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98" r:id="rId4"/>
    <p:sldId id="284" r:id="rId5"/>
    <p:sldId id="288" r:id="rId6"/>
    <p:sldId id="286" r:id="rId7"/>
    <p:sldId id="285" r:id="rId8"/>
    <p:sldId id="293" r:id="rId9"/>
    <p:sldId id="287" r:id="rId10"/>
    <p:sldId id="295" r:id="rId11"/>
    <p:sldId id="300" r:id="rId12"/>
    <p:sldId id="301" r:id="rId13"/>
    <p:sldId id="302" r:id="rId14"/>
    <p:sldId id="303" r:id="rId15"/>
    <p:sldId id="304" r:id="rId16"/>
    <p:sldId id="291"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FFFF"/>
    <a:srgbClr val="00000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3F39BA-3248-4A7E-94A3-7C094A97BF74}" v="3" dt="2026-05-05T15:33:12.3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BA12BF-2380-4890-A9DE-3097C2C62528}" type="datetimeFigureOut">
              <a:rPr lang="en-IN" smtClean="0"/>
              <a:t>05-05-2026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F91DE1-B03A-46EB-9479-29D63226EDFC}" type="slidenum">
              <a:rPr lang="en-IN" smtClean="0"/>
              <a:t>‹#›</a:t>
            </a:fld>
            <a:endParaRPr lang="en-IN"/>
          </a:p>
        </p:txBody>
      </p:sp>
    </p:spTree>
    <p:extLst>
      <p:ext uri="{BB962C8B-B14F-4D97-AF65-F5344CB8AC3E}">
        <p14:creationId xmlns:p14="http://schemas.microsoft.com/office/powerpoint/2010/main" val="3793279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E70458B-F185-48DB-AD85-3796F7DB4F8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43FFAAB-55BD-4260-A4E4-7D8FCB28E61B}" type="slidenum">
              <a:rPr lang="en-US" altLang="en-US">
                <a:solidFill>
                  <a:srgbClr val="000000"/>
                </a:solidFill>
                <a:latin typeface="Times New Roman" panose="02020603050405020304" pitchFamily="18" charset="0"/>
                <a:cs typeface="DejaVu Sans" charset="0"/>
              </a:rPr>
              <a:pPr/>
              <a:t>1</a:t>
            </a:fld>
            <a:endParaRPr lang="en-US" altLang="en-US">
              <a:solidFill>
                <a:srgbClr val="000000"/>
              </a:solidFill>
              <a:latin typeface="Times New Roman" panose="02020603050405020304" pitchFamily="18" charset="0"/>
              <a:cs typeface="DejaVu Sans" charset="0"/>
            </a:endParaRPr>
          </a:p>
        </p:txBody>
      </p:sp>
      <p:sp>
        <p:nvSpPr>
          <p:cNvPr id="6147" name="Rectangle 1">
            <a:extLst>
              <a:ext uri="{FF2B5EF4-FFF2-40B4-BE49-F238E27FC236}">
                <a16:creationId xmlns:a16="http://schemas.microsoft.com/office/drawing/2014/main" id="{468E4D85-E32A-485E-A661-F2143B7E6251}"/>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6148" name="Rectangle 2">
            <a:extLst>
              <a:ext uri="{FF2B5EF4-FFF2-40B4-BE49-F238E27FC236}">
                <a16:creationId xmlns:a16="http://schemas.microsoft.com/office/drawing/2014/main" id="{DF6CCD87-E991-4187-8B98-51E783BF2FA2}"/>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6">
            <a:extLst>
              <a:ext uri="{FF2B5EF4-FFF2-40B4-BE49-F238E27FC236}">
                <a16:creationId xmlns:a16="http://schemas.microsoft.com/office/drawing/2014/main" id="{323DF40D-1800-48F2-89B0-8451D73D046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0E773DE-2121-4534-891E-4D269B6198E4}" type="slidenum">
              <a:rPr lang="en-US" altLang="en-US">
                <a:solidFill>
                  <a:srgbClr val="000000"/>
                </a:solidFill>
                <a:latin typeface="Times New Roman" panose="02020603050405020304" pitchFamily="18" charset="0"/>
                <a:cs typeface="DejaVu Sans" charset="0"/>
              </a:rPr>
              <a:pPr/>
              <a:t>2</a:t>
            </a:fld>
            <a:endParaRPr lang="en-US" altLang="en-US">
              <a:solidFill>
                <a:srgbClr val="000000"/>
              </a:solidFill>
              <a:latin typeface="Times New Roman" panose="02020603050405020304" pitchFamily="18" charset="0"/>
              <a:cs typeface="DejaVu Sans" charset="0"/>
            </a:endParaRPr>
          </a:p>
        </p:txBody>
      </p:sp>
      <p:sp>
        <p:nvSpPr>
          <p:cNvPr id="8195" name="Rectangle 1">
            <a:extLst>
              <a:ext uri="{FF2B5EF4-FFF2-40B4-BE49-F238E27FC236}">
                <a16:creationId xmlns:a16="http://schemas.microsoft.com/office/drawing/2014/main" id="{8CB8B7FE-98D4-4BC1-AF30-2F4B2E5766CC}"/>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8196" name="Rectangle 2">
            <a:extLst>
              <a:ext uri="{FF2B5EF4-FFF2-40B4-BE49-F238E27FC236}">
                <a16:creationId xmlns:a16="http://schemas.microsoft.com/office/drawing/2014/main" id="{B0E2CBEC-FF7E-446A-8770-6539CBEDA36D}"/>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06F602-0615-6830-168F-39C35EAC8AAC}"/>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079FA3C4-83F8-FCA4-C8CB-D9498C11061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3</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8FD64092-DAA1-9841-E1EA-5D9931858E4F}"/>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EFA6F367-4871-4E37-C3D8-168EB8230368}"/>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66927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ADD78955-C1FE-40D4-96C8-D83EED03293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4</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C5941417-7B8B-45B9-A1EA-25E1C6DB8D11}"/>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37FADAFF-EC84-4B75-AF76-DFFFC331AA56}"/>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96837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207779-343E-C626-0B2F-A7B207221ECD}"/>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263A50E7-86E2-67B7-B3C2-9AF766054B2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5</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737B61EA-53D9-2C9C-932C-31B0293FCB73}"/>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CD119B16-AB48-A3FC-DDC0-43C87D036F5D}"/>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42859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C0E0C55-8C90-560B-41E8-2F111A51CBB6}"/>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70EAA7F2-B05C-7A6A-FA2F-2CEBF04316E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6</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FFF3D809-FE76-E3A9-59CA-D1DF931A30B7}"/>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3C02A8C0-94C2-58EC-E6A9-FF92CA3529C4}"/>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53415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59F4AF-F930-3247-6DF0-B99EE4E8BF21}"/>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CEDA6E47-8567-004B-7270-A145E5C71BF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7</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0DE1D5CF-AE26-209D-8D04-F087945F1EB9}"/>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FFF28BAE-6338-A323-FD28-EBA39C23325F}"/>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94253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59F4AF-F930-3247-6DF0-B99EE4E8BF21}"/>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CEDA6E47-8567-004B-7270-A145E5C71BF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8</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0DE1D5CF-AE26-209D-8D04-F087945F1EB9}"/>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FFF28BAE-6338-A323-FD28-EBA39C23325F}"/>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53904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683E9C2-C7F0-6E8C-CCE4-9D613DEBE84C}"/>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F1A1C804-55A9-9919-0DB0-62C41CA6AC8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9</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69D8ABBC-CD91-9E1A-11DC-A5441A6E90B5}"/>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50FB140C-E740-E21B-A60F-9B37BAECF2DE}"/>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3191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683E9C2-C7F0-6E8C-CCE4-9D613DEBE84C}"/>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F1A1C804-55A9-9919-0DB0-62C41CA6AC8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10</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69D8ABBC-CD91-9E1A-11DC-A5441A6E90B5}"/>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50FB140C-E740-E21B-A60F-9B37BAECF2DE}"/>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15489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3DA2BD8A-69E4-4109-9376-BB9CAFF25ACF}"/>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5F561648-146D-47FD-B529-EC509853122C}" type="slidenum">
              <a:rPr lang="en-US" altLang="en-US">
                <a:solidFill>
                  <a:srgbClr val="000000"/>
                </a:solidFill>
                <a:latin typeface="Times New Roman" panose="02020603050405020304" pitchFamily="18" charset="0"/>
                <a:cs typeface="DejaVu Sans" charset="0"/>
              </a:rPr>
              <a:pPr/>
              <a:t>17</a:t>
            </a:fld>
            <a:endParaRPr lang="en-US" altLang="en-US">
              <a:solidFill>
                <a:srgbClr val="000000"/>
              </a:solidFill>
              <a:latin typeface="Times New Roman" panose="02020603050405020304" pitchFamily="18" charset="0"/>
              <a:cs typeface="DejaVu Sans" charset="0"/>
            </a:endParaRPr>
          </a:p>
        </p:txBody>
      </p:sp>
      <p:sp>
        <p:nvSpPr>
          <p:cNvPr id="36867" name="Rectangle 1">
            <a:extLst>
              <a:ext uri="{FF2B5EF4-FFF2-40B4-BE49-F238E27FC236}">
                <a16:creationId xmlns:a16="http://schemas.microsoft.com/office/drawing/2014/main" id="{D5F9E9D7-7723-4503-AB02-FE828231E08F}"/>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36868" name="Rectangle 2">
            <a:extLst>
              <a:ext uri="{FF2B5EF4-FFF2-40B4-BE49-F238E27FC236}">
                <a16:creationId xmlns:a16="http://schemas.microsoft.com/office/drawing/2014/main" id="{6DA026BC-D0FD-4BA6-A806-A13BF79123DE}"/>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7F89E-E277-AF8E-49F6-72A76B1809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4D04B1-AE16-B6BA-1931-FC4853B2B2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7F05AC-2B29-B091-F2D7-ED96F7D89526}"/>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E7D6A8F6-8FD4-DA77-E0AD-189CD890D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53765-EFFD-C5B8-D943-5D93BC34F20A}"/>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164853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7A9F8-12EB-EFF7-0744-D287E5B9F3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083AD1-300B-3C68-20B9-39142238CE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381028-1B69-451E-3144-37F520687BA6}"/>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8140EE3D-4F86-87ED-8F44-BFF2F45E84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3D9467-4453-E14C-3ED2-5ABB2A46A9C9}"/>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066256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BD00F-E918-055A-4616-4EEA16A4BB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982D093-0330-DA39-1E58-89632D9520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25A767-90E2-6AF5-1864-93B40D28D7C8}"/>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4504F8BF-63FA-5BB3-B9FA-3A06958E08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4E1A44-8F8B-0587-D08F-B89AB9810678}"/>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4199957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ED54B-F397-8955-3FEA-6C969D0D17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002DC3-E323-16AC-8A29-88D1F9F7EB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691C72-1CC5-2AD7-A8C3-55DC48CC49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694270-71B6-D9F6-72B5-EAE1C8A50275}"/>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6" name="Footer Placeholder 5">
            <a:extLst>
              <a:ext uri="{FF2B5EF4-FFF2-40B4-BE49-F238E27FC236}">
                <a16:creationId xmlns:a16="http://schemas.microsoft.com/office/drawing/2014/main" id="{D741EA33-F213-7A3A-DC63-730394EA6B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CD17D4-61FE-7C16-4C64-14CCBE5FAED3}"/>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139409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FD53-581C-677C-682F-D41E43814A6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68C7BF-EDDE-2A1B-4E62-ACB320B3F4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FE3186-9648-6B4F-9B18-5DC0C3C1E1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43806C6-8ECC-170E-F981-6CD97F75D9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5DA98D-030B-292A-C8A7-F4FEA51EB3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F2B296-432F-F025-F850-EFEF2148D00C}"/>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8" name="Footer Placeholder 7">
            <a:extLst>
              <a:ext uri="{FF2B5EF4-FFF2-40B4-BE49-F238E27FC236}">
                <a16:creationId xmlns:a16="http://schemas.microsoft.com/office/drawing/2014/main" id="{0C8EC2FE-9C4F-9D39-DAD1-DCE0CBD96D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BC4145-3441-5834-D7AE-C0CC68125862}"/>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85546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E4E3-7E7C-EEC8-5EB8-4AFA3E0AFB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D86027-1488-8291-70CA-C24E07106EF0}"/>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4" name="Footer Placeholder 3">
            <a:extLst>
              <a:ext uri="{FF2B5EF4-FFF2-40B4-BE49-F238E27FC236}">
                <a16:creationId xmlns:a16="http://schemas.microsoft.com/office/drawing/2014/main" id="{AA50DF85-ECB1-F665-71C0-EFBE74E9B1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EDDAFE-02EA-3655-A05E-1C31B4CD4ED2}"/>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18214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C1A35D-7C71-0752-B2BB-E5C4D0C3C7E1}"/>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3" name="Footer Placeholder 2">
            <a:extLst>
              <a:ext uri="{FF2B5EF4-FFF2-40B4-BE49-F238E27FC236}">
                <a16:creationId xmlns:a16="http://schemas.microsoft.com/office/drawing/2014/main" id="{D1318D7F-94A9-239C-B8D1-D408C647EA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D6175B-F480-AC31-B0CA-044FD4B4F129}"/>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471776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7EF21-319B-0907-0D80-8DEDC07D5A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2D8AEC-2C9D-6214-0052-EF4733CEF0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18E77F-9176-76EE-76B3-19240F10E6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75E2C-07E5-B688-BF50-D327E30536FC}"/>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6" name="Footer Placeholder 5">
            <a:extLst>
              <a:ext uri="{FF2B5EF4-FFF2-40B4-BE49-F238E27FC236}">
                <a16:creationId xmlns:a16="http://schemas.microsoft.com/office/drawing/2014/main" id="{A6B6B84F-0FD7-F6CB-50DA-AAB1A73FD4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EF7CBB-C41F-989F-08C2-E4442E3FF84F}"/>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917483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6345-EA37-8C6A-C178-39B329656E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4251E9-0BAA-127A-E65B-5AC7D45C2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BB98CF-DF76-141B-762A-A65D356371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CD96-760E-5300-1C4F-003F42C0EB58}"/>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6" name="Footer Placeholder 5">
            <a:extLst>
              <a:ext uri="{FF2B5EF4-FFF2-40B4-BE49-F238E27FC236}">
                <a16:creationId xmlns:a16="http://schemas.microsoft.com/office/drawing/2014/main" id="{8F5EFD3F-AD02-03B3-84FE-20F9F631EC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6A0320-2A44-851A-082D-5B40482B257D}"/>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228591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884B-B8F1-675F-654B-8770D0C36FC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8B45BE-EC73-9A7B-A9A6-E1A3E0B98B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9E643E-EE56-B785-F106-2C0ED6BF49C7}"/>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6072B2CC-DF2E-AE86-92BD-246255573F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38BA80-780F-AB29-8AAC-62F8CD3B8942}"/>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235899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1B0D7E-C14F-5DFE-B774-40F4131362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ABB635-47B1-BE7A-42AF-7099B604EC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798DCA-F058-FD44-4D76-01BE21ED167A}"/>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ADF25EAC-EB78-95CB-CAE8-110216F354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B210C4-F616-EE28-479C-3DA4F915032D}"/>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626035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14401" y="2130425"/>
            <a:ext cx="10361084" cy="1468438"/>
          </a:xfrm>
        </p:spPr>
        <p:txBody>
          <a:bodyPr/>
          <a:lstStyle/>
          <a:p>
            <a:r>
              <a:rPr lang="en-US"/>
              <a:t>Click to edit Master title style</a:t>
            </a:r>
          </a:p>
        </p:txBody>
      </p:sp>
      <p:sp>
        <p:nvSpPr>
          <p:cNvPr id="3" name="Rectangle 2">
            <a:extLst>
              <a:ext uri="{FF2B5EF4-FFF2-40B4-BE49-F238E27FC236}">
                <a16:creationId xmlns:a16="http://schemas.microsoft.com/office/drawing/2014/main" id="{5EFD2757-5863-4F7E-A9A8-D6E218C07F09}"/>
              </a:ext>
            </a:extLst>
          </p:cNvPr>
          <p:cNvSpPr>
            <a:spLocks noGrp="1" noChangeArrowheads="1"/>
          </p:cNvSpPr>
          <p:nvPr>
            <p:ph type="dt" idx="10"/>
          </p:nvPr>
        </p:nvSpPr>
        <p:spPr>
          <a:ln/>
        </p:spPr>
        <p:txBody>
          <a:bodyPr/>
          <a:lstStyle>
            <a:lvl1pPr>
              <a:defRPr/>
            </a:lvl1pPr>
          </a:lstStyle>
          <a:p>
            <a:pPr>
              <a:defRPr/>
            </a:pPr>
            <a:r>
              <a:rPr lang="en-US"/>
              <a:t>2/7/20</a:t>
            </a:r>
          </a:p>
        </p:txBody>
      </p:sp>
      <p:sp>
        <p:nvSpPr>
          <p:cNvPr id="4" name="Rectangle 4">
            <a:extLst>
              <a:ext uri="{FF2B5EF4-FFF2-40B4-BE49-F238E27FC236}">
                <a16:creationId xmlns:a16="http://schemas.microsoft.com/office/drawing/2014/main" id="{1577BD60-6440-49BB-95F9-FA915E90D2C1}"/>
              </a:ext>
            </a:extLst>
          </p:cNvPr>
          <p:cNvSpPr>
            <a:spLocks noGrp="1" noChangeArrowheads="1"/>
          </p:cNvSpPr>
          <p:nvPr>
            <p:ph type="sldNum" idx="11"/>
          </p:nvPr>
        </p:nvSpPr>
        <p:spPr>
          <a:ln/>
        </p:spPr>
        <p:txBody>
          <a:bodyPr/>
          <a:lstStyle>
            <a:lvl1pPr>
              <a:defRPr/>
            </a:lvl1pPr>
          </a:lstStyle>
          <a:p>
            <a:pPr>
              <a:defRPr/>
            </a:pPr>
            <a:fld id="{B0B1F0C1-FE4D-47C4-BFD4-577E77A4BE46}" type="slidenum">
              <a:rPr lang="en-US" altLang="en-US"/>
              <a:pPr>
                <a:defRPr/>
              </a:pPr>
              <a:t>‹#›</a:t>
            </a:fld>
            <a:endParaRPr lang="en-US" altLang="en-US"/>
          </a:p>
        </p:txBody>
      </p:sp>
    </p:spTree>
    <p:extLst>
      <p:ext uri="{BB962C8B-B14F-4D97-AF65-F5344CB8AC3E}">
        <p14:creationId xmlns:p14="http://schemas.microsoft.com/office/powerpoint/2010/main" val="626249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5755F3-BEF6-DEF9-4CB1-1B5D2AA366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C12260-9AEE-0F6C-393D-081813D4F1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7C6917-09DF-778A-8957-A72F2F6F94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18A3656D-2DBA-CEE6-4E60-9E615014C3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65E9C8-F63C-F72D-C515-B8CD271F28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6A3748-EDEB-4F86-8B3C-520549F7612D}" type="slidenum">
              <a:rPr lang="en-IN" smtClean="0"/>
              <a:t>‹#›</a:t>
            </a:fld>
            <a:endParaRPr lang="en-IN"/>
          </a:p>
        </p:txBody>
      </p:sp>
    </p:spTree>
    <p:extLst>
      <p:ext uri="{BB962C8B-B14F-4D97-AF65-F5344CB8AC3E}">
        <p14:creationId xmlns:p14="http://schemas.microsoft.com/office/powerpoint/2010/main" val="2656701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F9E0E9F6-07FB-4789-A990-AC7C5BF54E0F}"/>
              </a:ext>
            </a:extLst>
          </p:cNvPr>
          <p:cNvSpPr>
            <a:spLocks noGrp="1" noChangeArrowheads="1"/>
          </p:cNvSpPr>
          <p:nvPr>
            <p:ph type="subTitle" idx="4294967295"/>
          </p:nvPr>
        </p:nvSpPr>
        <p:spPr>
          <a:xfrm>
            <a:off x="3414566" y="3006952"/>
            <a:ext cx="5293333" cy="2958419"/>
          </a:xfrm>
          <a:solidFill>
            <a:srgbClr val="FFFFFF"/>
          </a:solidFill>
        </p:spPr>
        <p:txBody>
          <a:bodyPr vert="horz" lIns="91440" tIns="45720" rIns="91440" bIns="45720" rtlCol="0">
            <a:noAutofit/>
          </a:bodyPr>
          <a:lstStyle/>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a:solidFill>
                  <a:srgbClr val="C00000"/>
                </a:solidFill>
                <a:latin typeface="Times New Roman" panose="02020603050405020304" pitchFamily="18" charset="0"/>
                <a:cs typeface="Times New Roman" panose="02020603050405020304" pitchFamily="18" charset="0"/>
              </a:rPr>
              <a:t>Presented by,</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Name                 : MURALI V</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Register No.      : 8115U24AM039</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Roll No.             : AM2439</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Year                   : II /AI&amp;ML </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400" b="1" dirty="0">
              <a:solidFill>
                <a:srgbClr val="0000FF"/>
              </a:solidFill>
              <a:latin typeface="Times New Roman" panose="02020603050405020304" pitchFamily="18" charset="0"/>
              <a:cs typeface="Times New Roman" panose="02020603050405020304" pitchFamily="18" charset="0"/>
            </a:endParaRP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002060"/>
              </a:solidFill>
              <a:latin typeface="Times New Roman" panose="02020603050405020304" pitchFamily="18" charset="0"/>
              <a:cs typeface="Times New Roman" panose="02020603050405020304" pitchFamily="18"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002060"/>
              </a:solidFill>
              <a:latin typeface="Arial" panose="020B0604020202020204" pitchFamily="34" charset="0"/>
              <a:cs typeface="Arial" panose="020B0604020202020204" pitchFamily="34" charset="0"/>
            </a:endParaRPr>
          </a:p>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002060"/>
              </a:solidFill>
              <a:latin typeface="Arial" panose="020B0604020202020204" pitchFamily="34" charset="0"/>
              <a:cs typeface="Arial" panose="020B0604020202020204" pitchFamily="34" charset="0"/>
            </a:endParaRPr>
          </a:p>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FF0000"/>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FF0000"/>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p:txBody>
      </p:sp>
      <p:sp>
        <p:nvSpPr>
          <p:cNvPr id="5123" name="Rectangle 2">
            <a:extLst>
              <a:ext uri="{FF2B5EF4-FFF2-40B4-BE49-F238E27FC236}">
                <a16:creationId xmlns:a16="http://schemas.microsoft.com/office/drawing/2014/main" id="{8A1FDFE6-6E49-4223-80FE-ED06113CEA28}"/>
              </a:ext>
            </a:extLst>
          </p:cNvPr>
          <p:cNvSpPr>
            <a:spLocks noChangeArrowheads="1"/>
          </p:cNvSpPr>
          <p:nvPr/>
        </p:nvSpPr>
        <p:spPr bwMode="auto">
          <a:xfrm>
            <a:off x="1679575" y="-1684338"/>
            <a:ext cx="3543300" cy="351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n-US" altLang="en-US"/>
          </a:p>
        </p:txBody>
      </p:sp>
      <p:pic>
        <p:nvPicPr>
          <p:cNvPr id="5124" name="Picture 3">
            <a:extLst>
              <a:ext uri="{FF2B5EF4-FFF2-40B4-BE49-F238E27FC236}">
                <a16:creationId xmlns:a16="http://schemas.microsoft.com/office/drawing/2014/main" id="{3C70AA84-2F58-4D76-926D-E4FAA3026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251" y="356884"/>
            <a:ext cx="1312323" cy="130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5125" name="Rectangle 4">
            <a:extLst>
              <a:ext uri="{FF2B5EF4-FFF2-40B4-BE49-F238E27FC236}">
                <a16:creationId xmlns:a16="http://schemas.microsoft.com/office/drawing/2014/main" id="{88983C3B-ED68-4B3B-97F3-18CD59AEFB21}"/>
              </a:ext>
            </a:extLst>
          </p:cNvPr>
          <p:cNvSpPr>
            <a:spLocks noChangeArrowheads="1"/>
          </p:cNvSpPr>
          <p:nvPr/>
        </p:nvSpPr>
        <p:spPr bwMode="auto">
          <a:xfrm>
            <a:off x="1515893" y="752984"/>
            <a:ext cx="8863520" cy="178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002060"/>
                </a:solidFill>
                <a:cs typeface="Arial" panose="020B0604020202020204" pitchFamily="34" charset="0"/>
              </a:rPr>
              <a:t>K.RAMAKRISHNAN COLLEGE OF ENGINEERING</a:t>
            </a:r>
          </a:p>
          <a:p>
            <a:pPr algn="ctr" eaLnBrk="1" hangingPunct="1">
              <a:buClr>
                <a:srgbClr val="000000"/>
              </a:buClr>
              <a:buSzPct val="100000"/>
              <a:buFont typeface="Times New Roman" panose="02020603050405020304" pitchFamily="18" charset="0"/>
              <a:buNone/>
            </a:pPr>
            <a:r>
              <a:rPr lang="en-US" altLang="en-US" b="1" dirty="0">
                <a:solidFill>
                  <a:srgbClr val="FF0066"/>
                </a:solidFill>
                <a:cs typeface="Arial" panose="020B0604020202020204" pitchFamily="34" charset="0"/>
              </a:rPr>
              <a:t>(AUTONOMOUS)</a:t>
            </a:r>
          </a:p>
          <a:p>
            <a:pPr algn="ctr" eaLnBrk="1" hangingPunct="1">
              <a:buClr>
                <a:srgbClr val="000000"/>
              </a:buClr>
              <a:buSzPct val="100000"/>
              <a:buFont typeface="Times New Roman" panose="02020603050405020304" pitchFamily="18" charset="0"/>
              <a:buNone/>
            </a:pPr>
            <a:br>
              <a:rPr lang="en-US" altLang="en-US" b="1" dirty="0">
                <a:solidFill>
                  <a:srgbClr val="FF0066"/>
                </a:solidFill>
                <a:cs typeface="Arial" panose="020B0604020202020204" pitchFamily="34" charset="0"/>
              </a:rPr>
            </a:br>
            <a:endParaRPr lang="en-US" altLang="en-US" b="1" dirty="0">
              <a:solidFill>
                <a:srgbClr val="FF0066"/>
              </a:solidFill>
              <a:latin typeface="Times New Roman" panose="02020603050405020304" pitchFamily="18" charset="0"/>
              <a:cs typeface="Times New Roman" panose="02020603050405020304" pitchFamily="18" charset="0"/>
            </a:endParaRPr>
          </a:p>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BANK MANAGEMENT SYSTEM</a:t>
            </a:r>
          </a:p>
        </p:txBody>
      </p:sp>
      <p:pic>
        <p:nvPicPr>
          <p:cNvPr id="3" name="Picture 2" descr="A blue and white logo&#10;&#10;Description automatically generated">
            <a:extLst>
              <a:ext uri="{FF2B5EF4-FFF2-40B4-BE49-F238E27FC236}">
                <a16:creationId xmlns:a16="http://schemas.microsoft.com/office/drawing/2014/main" id="{306928EC-A811-0A0B-9507-48536AEAC5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8718" y="230748"/>
            <a:ext cx="1811291" cy="1309549"/>
          </a:xfrm>
          <a:prstGeom prst="rect">
            <a:avLst/>
          </a:prstGeom>
        </p:spPr>
      </p:pic>
      <p:sp>
        <p:nvSpPr>
          <p:cNvPr id="4" name="TextBox 3">
            <a:extLst>
              <a:ext uri="{FF2B5EF4-FFF2-40B4-BE49-F238E27FC236}">
                <a16:creationId xmlns:a16="http://schemas.microsoft.com/office/drawing/2014/main" id="{8DF91848-A5C7-732D-869F-2E77DD460C47}"/>
              </a:ext>
            </a:extLst>
          </p:cNvPr>
          <p:cNvSpPr txBox="1"/>
          <p:nvPr/>
        </p:nvSpPr>
        <p:spPr>
          <a:xfrm>
            <a:off x="171308" y="6105016"/>
            <a:ext cx="4139435" cy="400110"/>
          </a:xfrm>
          <a:prstGeom prst="rect">
            <a:avLst/>
          </a:prstGeom>
          <a:noFill/>
        </p:spPr>
        <p:txBody>
          <a:bodyPr wrap="square" rtlCol="0">
            <a:spAutoFit/>
          </a:bodyPr>
          <a:lstStyle/>
          <a:p>
            <a:r>
              <a:rPr lang="en-GB" sz="2000" b="1" dirty="0">
                <a:solidFill>
                  <a:srgbClr val="FF0000"/>
                </a:solidFill>
                <a:latin typeface="Times New Roman" panose="02020603050405020304" pitchFamily="18" charset="0"/>
                <a:cs typeface="Times New Roman" panose="02020603050405020304" pitchFamily="18" charset="0"/>
              </a:rPr>
              <a:t>DATE OF REVIEW : 06/05/2026</a:t>
            </a:r>
            <a:endParaRPr lang="en-IN" sz="20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a:extLst>
              <a:ext uri="{FF2B5EF4-FFF2-40B4-BE49-F238E27FC236}">
                <a16:creationId xmlns:a16="http://schemas.microsoft.com/office/drawing/2014/main" id="{7477C302-5B5F-4848-9A2A-2B6F511ACC15}"/>
              </a:ext>
            </a:extLst>
          </p:cNvPr>
          <p:cNvSpPr>
            <a:spLocks noGrp="1" noChangeArrowheads="1"/>
          </p:cNvSpPr>
          <p:nvPr>
            <p:ph type="title" idx="4294967295"/>
          </p:nvPr>
        </p:nvSpPr>
        <p:spPr>
          <a:xfrm>
            <a:off x="1981200" y="274638"/>
            <a:ext cx="8229600" cy="1143000"/>
          </a:xfrm>
        </p:spPr>
        <p:txBody>
          <a:bodyPr>
            <a:normAutofit/>
          </a:bodyPr>
          <a:lstStyle/>
          <a:p>
            <a:pPr algn="ctr">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en-US" altLang="en-US" sz="2800" b="1" dirty="0">
                <a:solidFill>
                  <a:srgbClr val="FF0066"/>
                </a:solidFill>
                <a:latin typeface="Times New Roman" panose="02020603050405020304" pitchFamily="18" charset="0"/>
                <a:cs typeface="Times New Roman" panose="02020603050405020304" pitchFamily="18" charset="0"/>
              </a:rPr>
              <a:t>PRESENTATION OVERVIEW</a:t>
            </a:r>
          </a:p>
        </p:txBody>
      </p:sp>
      <p:sp>
        <p:nvSpPr>
          <p:cNvPr id="5123" name="Text Box 2">
            <a:extLst>
              <a:ext uri="{FF2B5EF4-FFF2-40B4-BE49-F238E27FC236}">
                <a16:creationId xmlns:a16="http://schemas.microsoft.com/office/drawing/2014/main" id="{508F8BF2-6D65-4AA4-8FCF-20F773D3ABD6}"/>
              </a:ext>
            </a:extLst>
          </p:cNvPr>
          <p:cNvSpPr txBox="1">
            <a:spLocks noChangeArrowheads="1"/>
          </p:cNvSpPr>
          <p:nvPr/>
        </p:nvSpPr>
        <p:spPr bwMode="auto">
          <a:xfrm>
            <a:off x="1893396" y="1538654"/>
            <a:ext cx="5801127" cy="4712855"/>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344487" indent="-342900" eaLnBrk="1">
              <a:lnSpc>
                <a:spcPct val="150000"/>
              </a:lnSpc>
              <a:spcBef>
                <a:spcPts val="325"/>
              </a:spcBef>
              <a:buClr>
                <a:srgbClr val="000000"/>
              </a:buClr>
              <a:buSzPct val="100000"/>
              <a:buFont typeface="Wingdings" panose="05000000000000000000" pitchFamily="2" charset="2"/>
              <a:buChar char="Ø"/>
              <a:defRPr/>
            </a:pPr>
            <a:r>
              <a:rPr lang="en-US" altLang="en-US" sz="2400" b="1" dirty="0">
                <a:solidFill>
                  <a:srgbClr val="000000"/>
                </a:solidFill>
                <a:latin typeface="Times New Roman" panose="02020603050405020304" pitchFamily="18" charset="0"/>
                <a:cs typeface="Times New Roman" panose="02020603050405020304" pitchFamily="18" charset="0"/>
              </a:rPr>
              <a:t>Objective</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Introduction</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Abstract</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Architecture Diagram</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Module Description</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Implementation</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Conclusion</a:t>
            </a:r>
          </a:p>
        </p:txBody>
      </p:sp>
      <p:pic>
        <p:nvPicPr>
          <p:cNvPr id="7172" name="Picture 3">
            <a:extLst>
              <a:ext uri="{FF2B5EF4-FFF2-40B4-BE49-F238E27FC236}">
                <a16:creationId xmlns:a16="http://schemas.microsoft.com/office/drawing/2014/main" id="{D2771C55-04C2-41BA-80F2-EDC06FBE8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188" y="350839"/>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2B910152-ED4B-3721-DEDA-54C63D305D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E73A8-5344-08E8-797D-5FAC58FA0ECF}"/>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AD6EF5CA-7D9E-ECE4-0D12-298DB8F54E01}"/>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cs typeface="Arial" panose="020B0604020202020204" pitchFamily="34" charset="0"/>
              </a:rPr>
              <a:t>OBJECTIVE</a:t>
            </a:r>
          </a:p>
        </p:txBody>
      </p:sp>
      <p:pic>
        <p:nvPicPr>
          <p:cNvPr id="18436" name="Picture 3">
            <a:extLst>
              <a:ext uri="{FF2B5EF4-FFF2-40B4-BE49-F238E27FC236}">
                <a16:creationId xmlns:a16="http://schemas.microsoft.com/office/drawing/2014/main" id="{C19DB829-A5F2-905B-32A5-59A702163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6B0CAEDB-6D33-E964-E163-7F061ADDA2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A5F81431-6938-6A8E-78DC-F1B90E51B82D}"/>
              </a:ext>
            </a:extLst>
          </p:cNvPr>
          <p:cNvSpPr txBox="1">
            <a:spLocks noChangeArrowheads="1"/>
          </p:cNvSpPr>
          <p:nvPr/>
        </p:nvSpPr>
        <p:spPr bwMode="auto">
          <a:xfrm>
            <a:off x="1167499" y="1860743"/>
            <a:ext cx="10143322" cy="409492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344487" indent="-342900" algn="just">
              <a:lnSpc>
                <a:spcPct val="200000"/>
              </a:lnSpc>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To develop a system for managing bank operations efficiently. </a:t>
            </a:r>
          </a:p>
          <a:p>
            <a:pPr marL="344487" indent="-342900" algn="just">
              <a:lnSpc>
                <a:spcPct val="200000"/>
              </a:lnSpc>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To store customer, account, and transaction details securely. </a:t>
            </a:r>
          </a:p>
          <a:p>
            <a:pPr marL="344487" indent="-342900" algn="just">
              <a:lnSpc>
                <a:spcPct val="200000"/>
              </a:lnSpc>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To reduce manual work and improve accuracy. </a:t>
            </a:r>
          </a:p>
          <a:p>
            <a:pPr marL="344487" indent="-342900" algn="just">
              <a:lnSpc>
                <a:spcPct val="200000"/>
              </a:lnSpc>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To provide quick access to banking data. </a:t>
            </a:r>
          </a:p>
          <a:p>
            <a:pPr marL="344487" indent="-342900" algn="just">
              <a:lnSpc>
                <a:spcPct val="200000"/>
              </a:lnSpc>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To ensure safe and reliable financial transactions. </a:t>
            </a:r>
          </a:p>
          <a:p>
            <a:pPr marL="1587" indent="0" algn="just" eaLnBrk="1">
              <a:lnSpc>
                <a:spcPct val="150000"/>
              </a:lnSpc>
              <a:spcBef>
                <a:spcPts val="325"/>
              </a:spcBef>
              <a:buClr>
                <a:srgbClr val="000000"/>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948285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397CEB3E-4EB7-48C7-BAED-717A8949BD4D}"/>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INTRODUCTION</a:t>
            </a:r>
            <a:endParaRPr lang="en-US" altLang="en-US" sz="2800" b="1" dirty="0">
              <a:solidFill>
                <a:srgbClr val="FF0066"/>
              </a:solidFill>
              <a:cs typeface="Arial" panose="020B0604020202020204" pitchFamily="34" charset="0"/>
            </a:endParaRPr>
          </a:p>
        </p:txBody>
      </p:sp>
      <p:pic>
        <p:nvPicPr>
          <p:cNvPr id="18436" name="Picture 3">
            <a:extLst>
              <a:ext uri="{FF2B5EF4-FFF2-40B4-BE49-F238E27FC236}">
                <a16:creationId xmlns:a16="http://schemas.microsoft.com/office/drawing/2014/main" id="{EBDB400C-E378-4C6B-BA39-B59CD3A303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39B186D8-8EA8-8FF9-4988-1EE8011610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75E57ACC-E139-DF37-7DE0-919C755A2BB5}"/>
              </a:ext>
            </a:extLst>
          </p:cNvPr>
          <p:cNvSpPr txBox="1">
            <a:spLocks noChangeArrowheads="1"/>
          </p:cNvSpPr>
          <p:nvPr/>
        </p:nvSpPr>
        <p:spPr bwMode="auto">
          <a:xfrm>
            <a:off x="2053885" y="2344582"/>
            <a:ext cx="8110298" cy="3043343"/>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eaLnBrk="1">
              <a:spcBef>
                <a:spcPts val="325"/>
              </a:spcBef>
              <a:buClr>
                <a:srgbClr val="000000"/>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693094B-B049-273C-A24B-97B637F467E5}"/>
              </a:ext>
            </a:extLst>
          </p:cNvPr>
          <p:cNvSpPr txBox="1"/>
          <p:nvPr/>
        </p:nvSpPr>
        <p:spPr>
          <a:xfrm>
            <a:off x="1204034" y="2040448"/>
            <a:ext cx="9647853" cy="2795958"/>
          </a:xfrm>
          <a:prstGeom prst="rect">
            <a:avLst/>
          </a:prstGeom>
          <a:noFill/>
        </p:spPr>
        <p:txBody>
          <a:bodyPr wrap="square">
            <a:spAutoFit/>
          </a:bodyPr>
          <a:lstStyle/>
          <a:p>
            <a:pPr algn="just">
              <a:lnSpc>
                <a:spcPct val="150000"/>
              </a:lnSpc>
            </a:pPr>
            <a:r>
              <a:rPr lang="en-GB" sz="2400" dirty="0">
                <a:latin typeface="Times New Roman" panose="02020603050405020304" pitchFamily="18" charset="0"/>
                <a:cs typeface="Times New Roman" panose="02020603050405020304" pitchFamily="18" charset="0"/>
              </a:rPr>
              <a:t>A Bank Management System is a database-based application that helps banks manage their daily operations such as customer details, account management, deposits, withdrawals, and transactions. This system replaces traditional manual record-keeping with an automated solution using DBMS, ensuring data consistency, security, and easy retrieval.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18849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246D2-318F-7E6C-6C31-358C56D19AF0}"/>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DB29D92B-FA91-27B2-EAC0-A68260D0F24D}"/>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cs typeface="Arial" panose="020B0604020202020204" pitchFamily="34" charset="0"/>
              </a:rPr>
              <a:t>ABSTRACT</a:t>
            </a:r>
          </a:p>
        </p:txBody>
      </p:sp>
      <p:pic>
        <p:nvPicPr>
          <p:cNvPr id="18436" name="Picture 3">
            <a:extLst>
              <a:ext uri="{FF2B5EF4-FFF2-40B4-BE49-F238E27FC236}">
                <a16:creationId xmlns:a16="http://schemas.microsoft.com/office/drawing/2014/main" id="{679E935B-2F3A-EAB6-7896-7CFA29A99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A13E8E1C-69CF-9793-585F-486B9BD9E4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F1628319-66EF-9DDA-2AEB-829A3826F184}"/>
              </a:ext>
            </a:extLst>
          </p:cNvPr>
          <p:cNvSpPr txBox="1">
            <a:spLocks noChangeArrowheads="1"/>
          </p:cNvSpPr>
          <p:nvPr/>
        </p:nvSpPr>
        <p:spPr bwMode="auto">
          <a:xfrm>
            <a:off x="924107" y="1722826"/>
            <a:ext cx="10143322" cy="409492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eaLnBrk="1">
              <a:lnSpc>
                <a:spcPct val="150000"/>
              </a:lnSpc>
              <a:spcBef>
                <a:spcPts val="325"/>
              </a:spcBef>
              <a:buClr>
                <a:srgbClr val="000000"/>
              </a:buClr>
              <a:buSzPct val="100000"/>
              <a:defRPr/>
            </a:pPr>
            <a:r>
              <a:rPr lang="en-GB" sz="2400" dirty="0">
                <a:latin typeface="Times New Roman" panose="02020603050405020304" pitchFamily="18" charset="0"/>
                <a:cs typeface="Times New Roman" panose="02020603050405020304" pitchFamily="18" charset="0"/>
              </a:rPr>
              <a:t>The Bank Management System is designed to handle banking activities in an efficient and organized manner. It uses a structured database to store information about customers, accounts, and transactions. The system allows users to perform operations like creating accounts, depositing money, withdrawing funds, and viewing account details. By using DBMS concepts such as tables, relationships, and queries, the system ensures data integrity and reduces redundancy. It provides a user-friendly interface and improves the overall banking experience</a:t>
            </a:r>
            <a:r>
              <a:rPr lang="en-GB" sz="2400" dirty="0"/>
              <a:t>.</a:t>
            </a:r>
            <a:endParaRPr lang="en-US"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06287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EF973-D18F-9486-E687-9C37EBFB032E}"/>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2CEDDFE1-3A77-859B-B2A7-9B7B8DDCFE37}"/>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ARCHITECTURE DIAGRAM</a:t>
            </a:r>
          </a:p>
        </p:txBody>
      </p:sp>
      <p:pic>
        <p:nvPicPr>
          <p:cNvPr id="18436" name="Picture 3">
            <a:extLst>
              <a:ext uri="{FF2B5EF4-FFF2-40B4-BE49-F238E27FC236}">
                <a16:creationId xmlns:a16="http://schemas.microsoft.com/office/drawing/2014/main" id="{CD4B4EC7-3992-327D-46CE-8B04D30A43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4B31C50C-F1FF-029A-8B70-7874E736CED2}"/>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81B68754-6B42-46FC-2DE8-1D09E1F6B1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6EE95238-42CD-13C1-F453-06D09D6C6E4E}"/>
              </a:ext>
            </a:extLst>
          </p:cNvPr>
          <p:cNvSpPr txBox="1">
            <a:spLocks noChangeArrowheads="1"/>
          </p:cNvSpPr>
          <p:nvPr/>
        </p:nvSpPr>
        <p:spPr bwMode="auto">
          <a:xfrm>
            <a:off x="373504" y="1739970"/>
            <a:ext cx="11452844" cy="5379287"/>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eaLnBrk="1">
              <a:lnSpc>
                <a:spcPct val="200000"/>
              </a:lnSpc>
              <a:spcBef>
                <a:spcPts val="325"/>
              </a:spcBef>
              <a:buClr>
                <a:srgbClr val="000000"/>
              </a:buClr>
              <a:buSzPct val="100000"/>
              <a:defRPr/>
            </a:pPr>
            <a:endParaRPr lang="en-US" sz="2400" dirty="0">
              <a:latin typeface="Times New Roman" panose="02020603050405020304" pitchFamily="18" charset="0"/>
              <a:cs typeface="Times New Roman" panose="02020603050405020304" pitchFamily="18" charset="0"/>
            </a:endParaRPr>
          </a:p>
        </p:txBody>
      </p:sp>
      <p:pic>
        <p:nvPicPr>
          <p:cNvPr id="4" name="Picture 3" descr="WhatsApp Image 2026-04-15 at 15.54.51">
            <a:extLst>
              <a:ext uri="{FF2B5EF4-FFF2-40B4-BE49-F238E27FC236}">
                <a16:creationId xmlns:a16="http://schemas.microsoft.com/office/drawing/2014/main" id="{CE76AE1D-BA40-A017-18B2-B94D16D9C5DF}"/>
              </a:ext>
            </a:extLst>
          </p:cNvPr>
          <p:cNvPicPr>
            <a:picLocks noChangeAspect="1"/>
          </p:cNvPicPr>
          <p:nvPr/>
        </p:nvPicPr>
        <p:blipFill>
          <a:blip r:embed="rId5"/>
          <a:stretch>
            <a:fillRect/>
          </a:stretch>
        </p:blipFill>
        <p:spPr>
          <a:xfrm>
            <a:off x="2528668" y="1628798"/>
            <a:ext cx="6378575" cy="4252595"/>
          </a:xfrm>
          <a:prstGeom prst="rect">
            <a:avLst/>
          </a:prstGeom>
        </p:spPr>
      </p:pic>
    </p:spTree>
    <p:extLst>
      <p:ext uri="{BB962C8B-B14F-4D97-AF65-F5344CB8AC3E}">
        <p14:creationId xmlns:p14="http://schemas.microsoft.com/office/powerpoint/2010/main" val="182880814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FB9CB-C990-239E-4B37-B12FF53486E3}"/>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2CE6C141-DE99-6186-4A83-FF8248A7EC3A}"/>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endParaRPr lang="en-US" altLang="en-US" sz="2400" b="1" dirty="0">
              <a:solidFill>
                <a:srgbClr val="FF0066"/>
              </a:solidFill>
              <a:latin typeface="Times New Roman" panose="02020603050405020304" pitchFamily="18" charset="0"/>
              <a:cs typeface="Times New Roman" panose="02020603050405020304" pitchFamily="18" charset="0"/>
            </a:endParaRPr>
          </a:p>
        </p:txBody>
      </p:sp>
      <p:pic>
        <p:nvPicPr>
          <p:cNvPr id="18436" name="Picture 3">
            <a:extLst>
              <a:ext uri="{FF2B5EF4-FFF2-40B4-BE49-F238E27FC236}">
                <a16:creationId xmlns:a16="http://schemas.microsoft.com/office/drawing/2014/main" id="{4C9B96B0-3E7C-4054-1870-FA50329B5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77EE7BC2-6451-4A25-AC86-EEFF58D47F28}"/>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C26308D2-8408-E5CF-DDEF-0CD826CEB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DCA18C44-A110-88E0-F24A-67AC795E3321}"/>
              </a:ext>
            </a:extLst>
          </p:cNvPr>
          <p:cNvSpPr txBox="1">
            <a:spLocks noChangeArrowheads="1"/>
          </p:cNvSpPr>
          <p:nvPr/>
        </p:nvSpPr>
        <p:spPr bwMode="auto">
          <a:xfrm>
            <a:off x="1554805" y="1556310"/>
            <a:ext cx="8560156" cy="503066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r>
              <a:rPr lang="en-GB" sz="2400" b="1" dirty="0">
                <a:latin typeface="Times New Roman" panose="02020603050405020304" pitchFamily="18" charset="0"/>
                <a:cs typeface="Times New Roman" panose="02020603050405020304" pitchFamily="18" charset="0"/>
              </a:rPr>
              <a:t>1. Authentication Module</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Handles user login and logout functionality.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Verifies username and password using the database.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Ensures only authorized users can access the system.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Provides role-based access (User / Admin). </a:t>
            </a:r>
          </a:p>
          <a:p>
            <a:pPr marL="344487" indent="-342900">
              <a:buFont typeface="Wingdings" panose="05000000000000000000" pitchFamily="2" charset="2"/>
              <a:buChar char="§"/>
            </a:pPr>
            <a:endParaRPr lang="en-GB" sz="24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2. Account Management Module</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Allows users to create new bank accounts.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Stores details like account number, type, and balance.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Supports updating and deleting account information.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Enables users to view account details. </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965095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FB9CB-C990-239E-4B37-B12FF53486E3}"/>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2CE6C141-DE99-6186-4A83-FF8248A7EC3A}"/>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endParaRPr lang="en-US" altLang="en-US" sz="2400" b="1" dirty="0">
              <a:solidFill>
                <a:srgbClr val="FF0066"/>
              </a:solidFill>
              <a:latin typeface="Times New Roman" panose="02020603050405020304" pitchFamily="18" charset="0"/>
              <a:cs typeface="Times New Roman" panose="02020603050405020304" pitchFamily="18" charset="0"/>
            </a:endParaRPr>
          </a:p>
        </p:txBody>
      </p:sp>
      <p:pic>
        <p:nvPicPr>
          <p:cNvPr id="18436" name="Picture 3">
            <a:extLst>
              <a:ext uri="{FF2B5EF4-FFF2-40B4-BE49-F238E27FC236}">
                <a16:creationId xmlns:a16="http://schemas.microsoft.com/office/drawing/2014/main" id="{4C9B96B0-3E7C-4054-1870-FA50329B5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77EE7BC2-6451-4A25-AC86-EEFF58D47F28}"/>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C26308D2-8408-E5CF-DDEF-0CD826CEB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DCA18C44-A110-88E0-F24A-67AC795E3321}"/>
              </a:ext>
            </a:extLst>
          </p:cNvPr>
          <p:cNvSpPr txBox="1">
            <a:spLocks noChangeArrowheads="1"/>
          </p:cNvSpPr>
          <p:nvPr/>
        </p:nvSpPr>
        <p:spPr bwMode="auto">
          <a:xfrm>
            <a:off x="1670170" y="784771"/>
            <a:ext cx="10301680" cy="5304195"/>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a:endParaRPr lang="en-US" sz="2400" dirty="0">
              <a:latin typeface="Times New Roman" panose="02020603050405020304" pitchFamily="18" charset="0"/>
              <a:cs typeface="Times New Roman" panose="02020603050405020304" pitchFamily="18" charset="0"/>
            </a:endParaRPr>
          </a:p>
          <a:p>
            <a:pPr marL="1587" indent="0" algn="just"/>
            <a:endParaRPr lang="en-US" sz="24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3. Transaction Module</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Handles deposit and withdrawal operations.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Updates account balance after each transaction.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Ensures data consistency and accuracy.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Records each transaction in the database. </a:t>
            </a:r>
          </a:p>
          <a:p>
            <a:pPr marL="1587" indent="0"/>
            <a:br>
              <a:rPr lang="en-GB" sz="2400" dirty="0">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4. Transfer Module</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Enables money transfer between accounts.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Verifies sender and receiver account details.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Checks sufficient balance before transfer.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Updates both accounts after successful transfer</a:t>
            </a:r>
            <a:r>
              <a:rPr lang="en-GB" sz="2400" dirty="0"/>
              <a:t>.</a:t>
            </a:r>
          </a:p>
          <a:p>
            <a:pPr>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049934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3250B-8799-38C5-4410-495CEF256140}"/>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95E2A9B5-EBCB-CBCC-1329-4B153DDEC8F0}"/>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p>
        </p:txBody>
      </p:sp>
      <p:pic>
        <p:nvPicPr>
          <p:cNvPr id="18436" name="Picture 3">
            <a:extLst>
              <a:ext uri="{FF2B5EF4-FFF2-40B4-BE49-F238E27FC236}">
                <a16:creationId xmlns:a16="http://schemas.microsoft.com/office/drawing/2014/main" id="{63F86ED2-2FEB-8EB8-E196-6D62774EF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E4A0C776-4283-FD8A-CAC8-529C7CBC66EA}"/>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86EEC11E-82EA-4175-A586-8579E9F96A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F176CE2B-E824-FB53-428A-6E967501B54E}"/>
              </a:ext>
            </a:extLst>
          </p:cNvPr>
          <p:cNvSpPr txBox="1">
            <a:spLocks noChangeArrowheads="1"/>
          </p:cNvSpPr>
          <p:nvPr/>
        </p:nvSpPr>
        <p:spPr bwMode="auto">
          <a:xfrm>
            <a:off x="1449539" y="1401972"/>
            <a:ext cx="5947964" cy="518149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r>
              <a:rPr lang="en-GB" sz="2400" b="1" dirty="0">
                <a:latin typeface="Times New Roman" panose="02020603050405020304" pitchFamily="18" charset="0"/>
                <a:cs typeface="Times New Roman" panose="02020603050405020304" pitchFamily="18" charset="0"/>
              </a:rPr>
              <a:t>5. Transaction History Module</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Maintains a record of all transactions.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Allows users to view past transactions.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Supports filtering by date or transaction type.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Provides detailed transaction reports. </a:t>
            </a:r>
          </a:p>
          <a:p>
            <a:br>
              <a:rPr lang="en-GB" sz="2400" dirty="0">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6. Admin Module</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Gives full control to the administrator.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Manages users and accounts.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Monitors all transactions in the system. </a:t>
            </a:r>
          </a:p>
          <a:p>
            <a:pPr marL="344487"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Can block/unblock accounts if needed.</a:t>
            </a:r>
          </a:p>
          <a:p>
            <a:pPr marL="1587" indent="0" algn="just" eaLnBrk="1">
              <a:spcBef>
                <a:spcPts val="325"/>
              </a:spcBef>
              <a:buClr>
                <a:srgbClr val="000000"/>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837650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3250B-8799-38C5-4410-495CEF256140}"/>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95E2A9B5-EBCB-CBCC-1329-4B153DDEC8F0}"/>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p>
        </p:txBody>
      </p:sp>
      <p:pic>
        <p:nvPicPr>
          <p:cNvPr id="18436" name="Picture 3">
            <a:extLst>
              <a:ext uri="{FF2B5EF4-FFF2-40B4-BE49-F238E27FC236}">
                <a16:creationId xmlns:a16="http://schemas.microsoft.com/office/drawing/2014/main" id="{63F86ED2-2FEB-8EB8-E196-6D62774EF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E4A0C776-4283-FD8A-CAC8-529C7CBC66EA}"/>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86EEC11E-82EA-4175-A586-8579E9F96A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F176CE2B-E824-FB53-428A-6E967501B54E}"/>
              </a:ext>
            </a:extLst>
          </p:cNvPr>
          <p:cNvSpPr txBox="1">
            <a:spLocks noChangeArrowheads="1"/>
          </p:cNvSpPr>
          <p:nvPr/>
        </p:nvSpPr>
        <p:spPr bwMode="auto">
          <a:xfrm>
            <a:off x="1554805" y="1676509"/>
            <a:ext cx="5947964" cy="518149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r>
              <a:rPr lang="en-GB" sz="2400" b="1" dirty="0"/>
              <a:t>7. Database Module</a:t>
            </a:r>
          </a:p>
          <a:p>
            <a:pPr marL="344487" indent="-342900">
              <a:buFont typeface="Wingdings" panose="05000000000000000000" pitchFamily="2" charset="2"/>
              <a:buChar char="§"/>
            </a:pPr>
            <a:r>
              <a:rPr lang="en-GB" sz="2400" dirty="0"/>
              <a:t>Manages storage of all data in the system. </a:t>
            </a:r>
          </a:p>
          <a:p>
            <a:pPr marL="344487" indent="-342900">
              <a:buFont typeface="Wingdings" panose="05000000000000000000" pitchFamily="2" charset="2"/>
              <a:buChar char="§"/>
            </a:pPr>
            <a:r>
              <a:rPr lang="en-GB" sz="2400" dirty="0"/>
              <a:t>Includes tables like Customer, Account, Transaction. </a:t>
            </a:r>
          </a:p>
          <a:p>
            <a:pPr marL="344487" indent="-342900">
              <a:buFont typeface="Wingdings" panose="05000000000000000000" pitchFamily="2" charset="2"/>
              <a:buChar char="§"/>
            </a:pPr>
            <a:r>
              <a:rPr lang="en-GB" sz="2400" dirty="0"/>
              <a:t>Maintains relationships between tables. </a:t>
            </a:r>
          </a:p>
          <a:p>
            <a:pPr marL="344487" indent="-342900">
              <a:buFont typeface="Wingdings" panose="05000000000000000000" pitchFamily="2" charset="2"/>
              <a:buChar char="§"/>
            </a:pPr>
            <a:r>
              <a:rPr lang="en-GB" sz="2400" dirty="0"/>
              <a:t>Ensures data integrity, security, and backup.</a:t>
            </a:r>
          </a:p>
          <a:p>
            <a:pPr marL="1587" indent="0" algn="just" eaLnBrk="1">
              <a:spcBef>
                <a:spcPts val="325"/>
              </a:spcBef>
              <a:buClr>
                <a:srgbClr val="000000"/>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479664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1BFD-7ACB-403F-BA28-907CAA2AE2CA}"/>
              </a:ext>
            </a:extLst>
          </p:cNvPr>
          <p:cNvSpPr>
            <a:spLocks noGrp="1"/>
          </p:cNvSpPr>
          <p:nvPr>
            <p:ph type="title"/>
          </p:nvPr>
        </p:nvSpPr>
        <p:spPr/>
        <p:txBody>
          <a:bodyPr>
            <a:normAutofit/>
          </a:bodyPr>
          <a:lstStyle/>
          <a:p>
            <a:r>
              <a:rPr lang="en-US" sz="2800" b="1" dirty="0">
                <a:solidFill>
                  <a:srgbClr val="FF0066"/>
                </a:solidFill>
              </a:rPr>
              <a:t>                                              </a:t>
            </a: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b="1" dirty="0">
              <a:solidFill>
                <a:srgbClr val="FF0066"/>
              </a:solidFill>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56CED2D1-1CA1-8899-9F81-FC4F63E34CC2}"/>
              </a:ext>
            </a:extLst>
          </p:cNvPr>
          <p:cNvPicPr>
            <a:picLocks noGrp="1" noChangeAspect="1"/>
          </p:cNvPicPr>
          <p:nvPr>
            <p:ph idx="1"/>
          </p:nvPr>
        </p:nvPicPr>
        <p:blipFill>
          <a:blip r:embed="rId2"/>
          <a:stretch>
            <a:fillRect/>
          </a:stretch>
        </p:blipFill>
        <p:spPr>
          <a:xfrm>
            <a:off x="1857079" y="1533393"/>
            <a:ext cx="9071655" cy="4100000"/>
          </a:xfrm>
          <a:prstGeom prst="rect">
            <a:avLst/>
          </a:prstGeom>
          <a:noFill/>
          <a:ln>
            <a:noFill/>
          </a:ln>
        </p:spPr>
      </p:pic>
    </p:spTree>
    <p:extLst>
      <p:ext uri="{BB962C8B-B14F-4D97-AF65-F5344CB8AC3E}">
        <p14:creationId xmlns:p14="http://schemas.microsoft.com/office/powerpoint/2010/main" val="5797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690F-8578-4EB6-99A7-A5D281AE9B0D}"/>
              </a:ext>
            </a:extLst>
          </p:cNvPr>
          <p:cNvSpPr>
            <a:spLocks noGrp="1"/>
          </p:cNvSpPr>
          <p:nvPr>
            <p:ph type="title"/>
          </p:nvPr>
        </p:nvSpPr>
        <p:spPr/>
        <p:txBody>
          <a:bodyPr>
            <a:normAutofit/>
          </a:bodyPr>
          <a:lstStyle/>
          <a:p>
            <a:pPr algn="ct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5E5C71D-6F9C-923A-0274-AF8F58354577}"/>
              </a:ext>
            </a:extLst>
          </p:cNvPr>
          <p:cNvPicPr>
            <a:picLocks noChangeAspect="1"/>
          </p:cNvPicPr>
          <p:nvPr/>
        </p:nvPicPr>
        <p:blipFill>
          <a:blip r:embed="rId2"/>
          <a:stretch>
            <a:fillRect/>
          </a:stretch>
        </p:blipFill>
        <p:spPr>
          <a:xfrm>
            <a:off x="1772238" y="1544062"/>
            <a:ext cx="8870623" cy="4031810"/>
          </a:xfrm>
          <a:prstGeom prst="rect">
            <a:avLst/>
          </a:prstGeom>
          <a:noFill/>
          <a:ln>
            <a:noFill/>
          </a:ln>
        </p:spPr>
      </p:pic>
    </p:spTree>
    <p:extLst>
      <p:ext uri="{BB962C8B-B14F-4D97-AF65-F5344CB8AC3E}">
        <p14:creationId xmlns:p14="http://schemas.microsoft.com/office/powerpoint/2010/main" val="455096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C72EDC-8B3E-414F-B1B9-CBECEC85B0F8}"/>
              </a:ext>
            </a:extLst>
          </p:cNvPr>
          <p:cNvSpPr>
            <a:spLocks noGrp="1"/>
          </p:cNvSpPr>
          <p:nvPr>
            <p:ph type="title"/>
          </p:nvPr>
        </p:nvSpPr>
        <p:spPr>
          <a:xfrm>
            <a:off x="838200" y="212035"/>
            <a:ext cx="10515600" cy="848139"/>
          </a:xfrm>
        </p:spPr>
        <p:txBody>
          <a:bodyPr>
            <a:normAutofit/>
          </a:bodyPr>
          <a:lstStyle/>
          <a:p>
            <a:pPr algn="ct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4B8ADDF-E967-E5C8-DDA4-BF05F1425230}"/>
              </a:ext>
            </a:extLst>
          </p:cNvPr>
          <p:cNvPicPr>
            <a:picLocks noChangeAspect="1"/>
          </p:cNvPicPr>
          <p:nvPr/>
        </p:nvPicPr>
        <p:blipFill>
          <a:blip r:embed="rId2"/>
          <a:stretch>
            <a:fillRect/>
          </a:stretch>
        </p:blipFill>
        <p:spPr>
          <a:xfrm>
            <a:off x="2149311" y="1345849"/>
            <a:ext cx="8028300" cy="4480039"/>
          </a:xfrm>
          <a:prstGeom prst="rect">
            <a:avLst/>
          </a:prstGeom>
          <a:noFill/>
          <a:ln>
            <a:noFill/>
          </a:ln>
        </p:spPr>
      </p:pic>
    </p:spTree>
    <p:extLst>
      <p:ext uri="{BB962C8B-B14F-4D97-AF65-F5344CB8AC3E}">
        <p14:creationId xmlns:p14="http://schemas.microsoft.com/office/powerpoint/2010/main" val="802127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1A35C6-C0FA-4014-962A-FD5F1A8E725A}"/>
              </a:ext>
            </a:extLst>
          </p:cNvPr>
          <p:cNvSpPr>
            <a:spLocks noGrp="1"/>
          </p:cNvSpPr>
          <p:nvPr>
            <p:ph type="title"/>
          </p:nvPr>
        </p:nvSpPr>
        <p:spPr>
          <a:xfrm>
            <a:off x="838200" y="0"/>
            <a:ext cx="10515600" cy="954158"/>
          </a:xfrm>
        </p:spPr>
        <p:txBody>
          <a:bodyPr>
            <a:normAutofit/>
          </a:bodyPr>
          <a:lstStyle/>
          <a:p>
            <a:pPr algn="ct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1D64E2F-4A93-00C1-ACF5-D557B9B849DA}"/>
              </a:ext>
            </a:extLst>
          </p:cNvPr>
          <p:cNvPicPr>
            <a:picLocks noChangeAspect="1"/>
          </p:cNvPicPr>
          <p:nvPr/>
        </p:nvPicPr>
        <p:blipFill>
          <a:blip r:embed="rId2"/>
          <a:stretch>
            <a:fillRect/>
          </a:stretch>
        </p:blipFill>
        <p:spPr>
          <a:xfrm>
            <a:off x="2248968" y="1190478"/>
            <a:ext cx="7694063" cy="4328916"/>
          </a:xfrm>
          <a:prstGeom prst="rect">
            <a:avLst/>
          </a:prstGeom>
          <a:noFill/>
          <a:ln>
            <a:noFill/>
          </a:ln>
        </p:spPr>
      </p:pic>
    </p:spTree>
    <p:extLst>
      <p:ext uri="{BB962C8B-B14F-4D97-AF65-F5344CB8AC3E}">
        <p14:creationId xmlns:p14="http://schemas.microsoft.com/office/powerpoint/2010/main" val="3800729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6FEEF-CBE2-442D-8960-CC76AFB831F9}"/>
              </a:ext>
            </a:extLst>
          </p:cNvPr>
          <p:cNvSpPr>
            <a:spLocks noGrp="1"/>
          </p:cNvSpPr>
          <p:nvPr>
            <p:ph type="title"/>
          </p:nvPr>
        </p:nvSpPr>
        <p:spPr/>
        <p:txBody>
          <a:bodyPr>
            <a:normAutofit/>
          </a:bodyPr>
          <a:lstStyle/>
          <a:p>
            <a:pPr algn="ct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dirty="0"/>
          </a:p>
        </p:txBody>
      </p:sp>
      <p:pic>
        <p:nvPicPr>
          <p:cNvPr id="6" name="Picture 5">
            <a:extLst>
              <a:ext uri="{FF2B5EF4-FFF2-40B4-BE49-F238E27FC236}">
                <a16:creationId xmlns:a16="http://schemas.microsoft.com/office/drawing/2014/main" id="{F6C6AFA5-8262-7B7E-8F42-182F9164820A}"/>
              </a:ext>
            </a:extLst>
          </p:cNvPr>
          <p:cNvPicPr>
            <a:picLocks noChangeAspect="1"/>
          </p:cNvPicPr>
          <p:nvPr/>
        </p:nvPicPr>
        <p:blipFill>
          <a:blip r:embed="rId2"/>
          <a:stretch>
            <a:fillRect/>
          </a:stretch>
        </p:blipFill>
        <p:spPr>
          <a:xfrm>
            <a:off x="2086227" y="1478436"/>
            <a:ext cx="8019546" cy="4403889"/>
          </a:xfrm>
          <a:prstGeom prst="rect">
            <a:avLst/>
          </a:prstGeom>
          <a:noFill/>
          <a:ln>
            <a:noFill/>
          </a:ln>
        </p:spPr>
      </p:pic>
    </p:spTree>
    <p:extLst>
      <p:ext uri="{BB962C8B-B14F-4D97-AF65-F5344CB8AC3E}">
        <p14:creationId xmlns:p14="http://schemas.microsoft.com/office/powerpoint/2010/main" val="2150266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6D3A-E476-AAA4-585C-B479A088FDDC}"/>
              </a:ext>
            </a:extLst>
          </p:cNvPr>
          <p:cNvSpPr>
            <a:spLocks noGrp="1"/>
          </p:cNvSpPr>
          <p:nvPr>
            <p:ph type="title"/>
          </p:nvPr>
        </p:nvSpPr>
        <p:spPr/>
        <p:txBody>
          <a:bodyPr>
            <a:normAutofit/>
          </a:bodyPr>
          <a:lstStyle/>
          <a:p>
            <a:pPr algn="ctr"/>
            <a:r>
              <a:rPr lang="en-IN" sz="2800" b="1" dirty="0">
                <a:solidFill>
                  <a:srgbClr val="FF0066"/>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5F62496-42A5-5C4E-A502-41A397211D2A}"/>
              </a:ext>
            </a:extLst>
          </p:cNvPr>
          <p:cNvSpPr>
            <a:spLocks noGrp="1"/>
          </p:cNvSpPr>
          <p:nvPr>
            <p:ph idx="1"/>
          </p:nvPr>
        </p:nvSpPr>
        <p:spPr/>
        <p:txBody>
          <a:bodyPr>
            <a:normAutofit/>
          </a:bodyPr>
          <a:lstStyle/>
          <a:p>
            <a:pPr marL="0" indent="0" algn="just">
              <a:lnSpc>
                <a:spcPct val="150000"/>
              </a:lnSpc>
              <a:buNone/>
            </a:pPr>
            <a:r>
              <a:rPr lang="en-GB" dirty="0">
                <a:latin typeface="Times New Roman" panose="02020603050405020304" pitchFamily="18" charset="0"/>
                <a:cs typeface="Times New Roman" panose="02020603050405020304" pitchFamily="18" charset="0"/>
              </a:rPr>
              <a:t>The Bank Management System simplifies banking operations by automating data storage and processing. It improves efficiency, reduces errors, and ensures data security. This system demonstrates the effective use of DBMS concepts in real-world applications and can be further enhanced with advanced features like online banking and mobile access.</a:t>
            </a:r>
          </a:p>
          <a:p>
            <a:pPr marL="0" indent="0" algn="just">
              <a:lnSpc>
                <a:spcPct val="10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979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F8EADB-C06C-49B8-87E3-303324229C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1369</TotalTime>
  <Words>564</Words>
  <Application>Microsoft Office PowerPoint</Application>
  <PresentationFormat>Widescreen</PresentationFormat>
  <Paragraphs>103</Paragraphs>
  <Slides>17</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PowerPoint Presentation</vt:lpstr>
      <vt:lpstr>PRESENTATION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IMPLEMENTATION</vt:lpstr>
      <vt:lpstr>IMPLEMENTATION</vt:lpstr>
      <vt:lpstr>IMPLEMENTATION</vt:lpstr>
      <vt:lpstr>IMPLEMENTATION</vt:lpstr>
      <vt:lpstr>IMPLEMENTATION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Matheswaran P</dc:creator>
  <cp:lastModifiedBy>ADMIN</cp:lastModifiedBy>
  <cp:revision>38</cp:revision>
  <dcterms:created xsi:type="dcterms:W3CDTF">2023-12-21T13:31:05Z</dcterms:created>
  <dcterms:modified xsi:type="dcterms:W3CDTF">2026-05-05T15:41:04Z</dcterms:modified>
</cp:coreProperties>
</file>